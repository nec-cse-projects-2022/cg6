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eg"/>
  <Override PartName="/ppt/media/image9.jpg" ContentType="image/jpeg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4" r:id="rId13"/>
    <p:sldId id="269" r:id="rId14"/>
    <p:sldId id="275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98045-C74C-4091-AB35-BB38FE57F1B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563AA0-0E2C-4EA2-A476-5C303314C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1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63AA0-0E2C-4EA2-A476-5C303314CD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7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C3B05147-1C26-44BB-B0AC-E73EB3B44F50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46A48455-C8A5-4FA7-AE16-DBC47189F81D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07E07F73-89CA-4E95-9B2A-F4D6A73611B2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09CB7CCD-02DF-4A94-94F9-7F4AE534ABDB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364DC90F-6C79-4655-9E9D-9BF6FCD2FC0B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631F683E-43D7-4EAC-9746-CA2F5D88B0AC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l3%20(1).pdf" TargetMode="External"/><Relationship Id="rId7" Type="http://schemas.openxmlformats.org/officeDocument/2006/relationships/hyperlink" Target="https://ieeexplore.ieee.org/document/1094666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stamp/stamp.jsp?tp=&amp;arnumber=10962207" TargetMode="External"/><Relationship Id="rId5" Type="http://schemas.openxmlformats.org/officeDocument/2006/relationships/hyperlink" Target="https://ieeexplore.ieee.org/document/10988683" TargetMode="External"/><Relationship Id="rId4" Type="http://schemas.openxmlformats.org/officeDocument/2006/relationships/hyperlink" Target="https://ieeexplore.ieee.org/document/1099027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10848244" TargetMode="External"/><Relationship Id="rId3" Type="http://schemas.openxmlformats.org/officeDocument/2006/relationships/hyperlink" Target="https://ieeexplore.ieee.org/document/10938603" TargetMode="External"/><Relationship Id="rId7" Type="http://schemas.openxmlformats.org/officeDocument/2006/relationships/hyperlink" Target="https://ieeexplore.ieee.org/document/10988683" TargetMode="External"/><Relationship Id="rId12" Type="http://schemas.openxmlformats.org/officeDocument/2006/relationships/hyperlink" Target="https://ieeexplore.ieee.org/document/10979508" TargetMode="External"/><Relationship Id="rId2" Type="http://schemas.openxmlformats.org/officeDocument/2006/relationships/hyperlink" Target="https://ieeexplore.ieee.org/document/1094666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990277" TargetMode="External"/><Relationship Id="rId11" Type="http://schemas.openxmlformats.org/officeDocument/2006/relationships/hyperlink" Target="https://ieeexplore.ieee.org/document/10965606" TargetMode="External"/><Relationship Id="rId5" Type="http://schemas.openxmlformats.org/officeDocument/2006/relationships/hyperlink" Target="https://ieeexplore.ieee.org/document/10929049" TargetMode="External"/><Relationship Id="rId10" Type="http://schemas.openxmlformats.org/officeDocument/2006/relationships/hyperlink" Target="https://ieeexplore.ieee.org/document/10839307" TargetMode="External"/><Relationship Id="rId4" Type="http://schemas.openxmlformats.org/officeDocument/2006/relationships/hyperlink" Target="https://ieeexplore.ieee.org/document/10960464" TargetMode="External"/><Relationship Id="rId9" Type="http://schemas.openxmlformats.org/officeDocument/2006/relationships/hyperlink" Target="https://ieeexplore.ieee.org/document/11015947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759677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2009788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800" y="2480477"/>
            <a:ext cx="3855085" cy="9830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sz="1550" u="sng" dirty="0">
                <a:latin typeface="Times New Roman"/>
                <a:cs typeface="Times New Roman"/>
              </a:rPr>
              <a:t>Name</a:t>
            </a:r>
            <a:r>
              <a:rPr sz="1550" u="sng" spc="5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of</a:t>
            </a:r>
            <a:r>
              <a:rPr sz="1550" u="sng" spc="120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the</a:t>
            </a:r>
            <a:r>
              <a:rPr sz="1550" u="sng" spc="90" dirty="0">
                <a:latin typeface="Times New Roman"/>
                <a:cs typeface="Times New Roman"/>
              </a:rPr>
              <a:t> </a:t>
            </a:r>
            <a:r>
              <a:rPr sz="1550" u="sng" spc="-10" dirty="0">
                <a:latin typeface="Times New Roman"/>
                <a:cs typeface="Times New Roman"/>
              </a:rPr>
              <a:t>Student</a:t>
            </a:r>
            <a:r>
              <a:rPr lang="en-US" sz="1550" u="sng" spc="-10" dirty="0">
                <a:latin typeface="Times New Roman"/>
                <a:cs typeface="Times New Roman"/>
              </a:rPr>
              <a:t>: </a:t>
            </a:r>
            <a:r>
              <a:rPr lang="en-US" sz="1550" spc="-10" dirty="0">
                <a:latin typeface="Times New Roman"/>
                <a:cs typeface="Times New Roman"/>
              </a:rPr>
              <a:t>Sd. Tasneem Banu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endParaRPr lang="en-US" sz="1550" spc="-1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sz="1550" u="sng" dirty="0">
                <a:latin typeface="Times New Roman"/>
                <a:cs typeface="Times New Roman"/>
              </a:rPr>
              <a:t>Name</a:t>
            </a:r>
            <a:r>
              <a:rPr sz="1550" u="sng" spc="5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of</a:t>
            </a:r>
            <a:r>
              <a:rPr sz="1550" u="sng" spc="120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the</a:t>
            </a:r>
            <a:r>
              <a:rPr sz="1550" u="sng" spc="90" dirty="0">
                <a:latin typeface="Times New Roman"/>
                <a:cs typeface="Times New Roman"/>
              </a:rPr>
              <a:t> </a:t>
            </a:r>
            <a:r>
              <a:rPr sz="1550" u="sng" spc="-10" dirty="0">
                <a:latin typeface="Times New Roman"/>
                <a:cs typeface="Times New Roman"/>
              </a:rPr>
              <a:t>Student</a:t>
            </a:r>
            <a:r>
              <a:rPr lang="en-US" sz="1550" u="sng" spc="-10" dirty="0">
                <a:latin typeface="Times New Roman"/>
                <a:cs typeface="Times New Roman"/>
              </a:rPr>
              <a:t>: </a:t>
            </a:r>
            <a:r>
              <a:rPr lang="en-US" sz="1550" spc="-10" dirty="0">
                <a:latin typeface="Times New Roman"/>
                <a:cs typeface="Times New Roman"/>
              </a:rPr>
              <a:t>B. Sailaja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sz="1550" u="sng" dirty="0">
                <a:latin typeface="Times New Roman"/>
                <a:cs typeface="Times New Roman"/>
              </a:rPr>
              <a:t>Name</a:t>
            </a:r>
            <a:r>
              <a:rPr sz="1550" u="sng" spc="5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of</a:t>
            </a:r>
            <a:r>
              <a:rPr sz="1550" u="sng" spc="120" dirty="0">
                <a:latin typeface="Times New Roman"/>
                <a:cs typeface="Times New Roman"/>
              </a:rPr>
              <a:t> </a:t>
            </a:r>
            <a:r>
              <a:rPr sz="1550" u="sng" dirty="0">
                <a:latin typeface="Times New Roman"/>
                <a:cs typeface="Times New Roman"/>
              </a:rPr>
              <a:t>the</a:t>
            </a:r>
            <a:r>
              <a:rPr sz="1550" u="sng" spc="90" dirty="0">
                <a:latin typeface="Times New Roman"/>
                <a:cs typeface="Times New Roman"/>
              </a:rPr>
              <a:t> </a:t>
            </a:r>
            <a:r>
              <a:rPr sz="1550" u="sng" spc="-10" dirty="0">
                <a:latin typeface="Times New Roman"/>
                <a:cs typeface="Times New Roman"/>
              </a:rPr>
              <a:t>Student</a:t>
            </a:r>
            <a:r>
              <a:rPr lang="en-US" sz="1550" u="sng" spc="-10" dirty="0">
                <a:latin typeface="Times New Roman"/>
                <a:cs typeface="Times New Roman"/>
              </a:rPr>
              <a:t>: </a:t>
            </a:r>
            <a:r>
              <a:rPr lang="en-US" sz="1550" spc="-10" dirty="0">
                <a:latin typeface="Times New Roman"/>
                <a:cs typeface="Times New Roman"/>
              </a:rPr>
              <a:t>Sk. Nazeera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400" y="2433215"/>
            <a:ext cx="1844041" cy="9957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US" sz="1550" dirty="0">
                <a:latin typeface="Times New Roman"/>
                <a:cs typeface="Times New Roman"/>
              </a:rPr>
              <a:t>22471A05K1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lang="en-US" sz="1550" spc="-20" dirty="0">
                <a:latin typeface="Times New Roman"/>
                <a:cs typeface="Times New Roman"/>
              </a:rPr>
              <a:t>(22471A05E7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US" sz="1550" dirty="0">
                <a:latin typeface="Times New Roman"/>
                <a:cs typeface="Times New Roman"/>
              </a:rPr>
              <a:t>22471A05J2)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7880" y="3927706"/>
            <a:ext cx="4304665" cy="18578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/>
            <a:r>
              <a:rPr lang="en-US" b="1" spc="-85" dirty="0">
                <a:latin typeface="Times New Roman"/>
                <a:cs typeface="Times New Roman"/>
              </a:rPr>
              <a:t>M. Sathyam Reddy</a:t>
            </a:r>
            <a:r>
              <a:rPr b="1" spc="-85" dirty="0">
                <a:latin typeface="Times New Roman"/>
                <a:cs typeface="Times New Roman"/>
              </a:rPr>
              <a:t> </a:t>
            </a:r>
            <a:r>
              <a:rPr lang="en-US" sz="900" b="1" dirty="0" err="1"/>
              <a:t>M.Tech</a:t>
            </a:r>
            <a:r>
              <a:rPr lang="en-US" sz="900" b="1" dirty="0"/>
              <a:t>.</a:t>
            </a:r>
            <a:endParaRPr lang="en-IN" sz="900" dirty="0"/>
          </a:p>
          <a:p>
            <a:pPr algn="ctr"/>
            <a:r>
              <a:rPr lang="en-US" sz="900" b="1" dirty="0"/>
              <a:t>Assistant Professor</a:t>
            </a:r>
            <a:endParaRPr lang="en-IN" sz="900" dirty="0"/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7880" y="194052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32C1486B-5C38-444D-9899-24D852745C22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 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11F96-D4A8-6704-B686-4B5088346ED8}"/>
              </a:ext>
            </a:extLst>
          </p:cNvPr>
          <p:cNvSpPr txBox="1"/>
          <p:nvPr/>
        </p:nvSpPr>
        <p:spPr>
          <a:xfrm>
            <a:off x="917575" y="1098134"/>
            <a:ext cx="10923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AgriCastNet: A Unified Deep Forecasting Framework 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Smart Greenhouse Microclimates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134918FB-99A5-4057-BD6C-E0AC5F5B90C1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 1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Questions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366683D6-5FA3-4508-B063-FE12B37BAAC7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4A5D6B-73A8-5DCA-4CF9-C6250098BBE0}"/>
              </a:ext>
            </a:extLst>
          </p:cNvPr>
          <p:cNvSpPr txBox="1"/>
          <p:nvPr/>
        </p:nvSpPr>
        <p:spPr>
          <a:xfrm>
            <a:off x="838200" y="1295400"/>
            <a:ext cx="1021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700AA82-FE0B-AE56-82AC-88E53141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40000"/>
            <a:ext cx="11277600" cy="525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Greenhouse farming is vital for stable food production under unpredictable climates.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face issues like sensor failure, poor generalization, and high computation.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studies focus on both fault tolerance and ease of deployment.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AgriCastNet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unified deep learning framework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Climatic Influence Indicators (CII)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CII improves model reliability by identifying the importance of each sensor input.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 multivariate greenhouse dataset with temperature, humidity, CO₂, radiation, and water uptake.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and compared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CNN-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TCN, TFT, PLSTM,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5-fold cross-validation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Python in Google Colab.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CNN-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99.67%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(99.59%)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is fault-tolerant, adaptive, and highly accurate for greenhouse climate forecasting.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real-time climate prediction for sustainable and smart agriculture.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risk-based prediction, model stacking, XAI integration, and IoT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B962ADDA-79BB-4B3A-ACB5-19A25C40198F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295400"/>
            <a:ext cx="10271442" cy="45320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b="1" dirty="0"/>
              <a:t>Brief Introduction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AgriCastNet is a deep learning–based framework designed to forecast greenhouse microclimates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uses advanced neural models to analyze parameters like temperature, humidity, CO₂, and radiation.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ensures stable predictions even when some sensor data is missing or faulty.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Motivation Behind the Project</a:t>
            </a:r>
            <a:endParaRPr lang="en-US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/>
              <a:t>Greenhouse farming depends heavily on precise climate control.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/>
              <a:t>Existing models often fail due to sensor errors, high computational cost, and poor adaptability.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/>
              <a:t>The need for a fault-resilient, adaptive forecasting model inspired the development of AgriCastNet.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Importance &amp; Relevance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farmers and researchers monitor and predict greenhouse conditions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energy-efficient, sustainable crop management across different </a:t>
            </a:r>
            <a:r>
              <a:rPr lang="en-US" dirty="0" err="1"/>
              <a:t>agro</a:t>
            </a:r>
            <a:r>
              <a:rPr lang="en-US" dirty="0"/>
              <a:t>-climatic zones.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smart agriculture through automation, IoT integration, and AI-driven decision 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0534" y="76200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799E9616-6180-4A12-AB07-31F55299A346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91988"/>
              </p:ext>
            </p:extLst>
          </p:nvPr>
        </p:nvGraphicFramePr>
        <p:xfrm>
          <a:off x="609600" y="708660"/>
          <a:ext cx="11201399" cy="5768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7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3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622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350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>
                          <a:latin typeface="+mn-lt"/>
                          <a:cs typeface="Calibri"/>
                        </a:rPr>
                        <a:t>Deep Learning Innovations for Greenhouse Climate Prediction: Insights from a Spanish Case Study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dirty="0">
                          <a:latin typeface="+mn-lt"/>
                          <a:cs typeface="Times New Roman"/>
                        </a:rPr>
                        <a:t>Salma Ait </a:t>
                      </a:r>
                      <a:r>
                        <a:rPr lang="en-IN" sz="1400" b="0" dirty="0" err="1">
                          <a:latin typeface="+mn-lt"/>
                          <a:cs typeface="Times New Roman"/>
                        </a:rPr>
                        <a:t>Oussous</a:t>
                      </a:r>
                      <a:r>
                        <a:rPr lang="en-IN" sz="1400" b="0" dirty="0">
                          <a:latin typeface="+mn-lt"/>
                          <a:cs typeface="Times New Roman"/>
                        </a:rPr>
                        <a:t>, </a:t>
                      </a:r>
                      <a:r>
                        <a:rPr lang="en-IN" sz="1400" b="0" dirty="0" err="1">
                          <a:latin typeface="+mn-lt"/>
                          <a:cs typeface="Times New Roman"/>
                        </a:rPr>
                        <a:t>Dauris</a:t>
                      </a:r>
                      <a:r>
                        <a:rPr lang="en-IN" sz="1400" b="0" dirty="0">
                          <a:latin typeface="+mn-lt"/>
                          <a:cs typeface="Times New Roman"/>
                        </a:rPr>
                        <a:t> Madama Lail, Rachid El Bouayadi, </a:t>
                      </a:r>
                      <a:r>
                        <a:rPr lang="en-IN" sz="1400" b="0" dirty="0" err="1">
                          <a:latin typeface="+mn-lt"/>
                          <a:cs typeface="Times New Roman"/>
                        </a:rPr>
                        <a:t>Aouatif</a:t>
                      </a:r>
                      <a:r>
                        <a:rPr lang="en-IN" sz="1400" b="0" dirty="0">
                          <a:latin typeface="+mn-lt"/>
                          <a:cs typeface="Times New Roman"/>
                        </a:rPr>
                        <a:t> Amine, 2025, IEEE Access</a:t>
                      </a:r>
                      <a:endParaRPr sz="1400" b="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IN" sz="1400" dirty="0">
                          <a:latin typeface="+mn-lt"/>
                          <a:cs typeface="Calibri"/>
                          <a:hlinkClick r:id="rId3" action="ppaction://hlinkfile"/>
                        </a:rPr>
                        <a:t>https://ieeexplore.ieee.org/document/10960464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preprocessing, normalization, correlation analysis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+mn-lt"/>
                          <a:cs typeface="Times New Roman"/>
                        </a:rPr>
                        <a:t>PLSTM outperforms other DL models with R2 of 0.9999, robust forecasting of greenhouse temperature</a:t>
                      </a:r>
                      <a:endParaRPr sz="1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+mj-lt"/>
                          <a:cs typeface="Times New Roman"/>
                        </a:rPr>
                        <a:t>Limited focus on diverse greenhouse environments; potential data noise issues</a:t>
                      </a:r>
                      <a:endParaRPr sz="14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RainScaler: A Physics-Inspired Network for Precipitation Correction and Downscaling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 Zhao, Zhitong Xiong, Xiao Xiang Zhu, 2025, IEEE Transactions on Geoscience and Remote Sensing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https://ieeexplore.ieee.org/document/10990277</a:t>
                      </a:r>
                      <a:endParaRPr lang="en-IN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Noise modeling, physical constraints embedding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Improves precipitation downscaling accuracy; captures spatial patterns and extreme events; integrates physical knowledge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Rigid physical constraints may degrade performance on certain data; handling diverse noise sources remains challenging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95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Uncertainty Quantification Benefit From Label Embeddings? A Case Study on Local Climate Zone Classification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Christoph Schweden, Katharina Hechinger, Göran Kauermann, Xiao Xiang Zhu, 2025, IEEE Transactions on Geoscience and Remote Sensing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https://ieeexplore.ieee.org/document/10988683</a:t>
                      </a:r>
                      <a:endParaRPr lang="en-IN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Bayesian embedding, label uncertainty modeling, uncertainty calibration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Developed a three-level uncertainty scheme; improved calibration and OoD detection; embedding-based uncertainty modeling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 large-scale datasets for remote sensing label uncertainty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1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Context-Aware Embedded Language Transformers for Evaluating Climate Change-Based Sustainable Development Goals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P. Mishra, S. Narayanasamy, K. Srinivasan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https://ieeexplore.ieee.org/stamp/stamp.jsp?tp=&amp;arnumber=10962207</a:t>
                      </a:r>
                      <a:endParaRPr lang="en-IN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2025, IEEE Access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Fine-tuning of RoBERTa, embedding-based relation extraction, Transformer-based entity recognition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Developed a lightweight model for extracting climate change ontologies, enabling integration into various pipelines for decision support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93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Prediction of Gross Primary Productivity Change in Central Asia Under Climate Change Using Deep Learning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Authors: Wei Shao, Chenchen Wu,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Tianxiang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Yue, Na Zhao, Yunfeng Hu; Year: 2025;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https://ieeexplore.ieee.org/document/10946667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Bayesian embedding, label uncertainty modeling, uncertainty calibration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the LTG model combining LSTM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Impact of climatic variables when directly included as inputs is inconclusive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5C7DA790-DAAB-4996-B4EC-383D8CD767E5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4E8A4E-104A-49ED-3479-D776A0DAB8C6}"/>
              </a:ext>
            </a:extLst>
          </p:cNvPr>
          <p:cNvSpPr txBox="1"/>
          <p:nvPr/>
        </p:nvSpPr>
        <p:spPr>
          <a:xfrm>
            <a:off x="1600200" y="2286000"/>
            <a:ext cx="9720326" cy="335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529472C-50A2-D8C6-D468-AAEEC1B0F88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2408" y="1905000"/>
            <a:ext cx="1010107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existing greenhouse prediction models fail when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data is missing or faulty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generalization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models trained in one climatic zone don’t perform well in others.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deep learning models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and GRU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computational resources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few studies address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tolerance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adaptability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together.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interpretability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models act as black boxes without explaining influential factors.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unified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multiple deep models (CNN,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TCN,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TFT).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Insufficient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IoT-ready, lightweight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greenhouse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multi-zone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cross-validation for robust performance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7D5BAFEE-DB34-4041-80A6-2DE1B4E3AE8B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5620" y="1337309"/>
            <a:ext cx="11049000" cy="480900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b="1" dirty="0"/>
              <a:t>Problem Statement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Greenhouse environments generate large volumes of sensor data (temperature, humidity, CO₂, radiation).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forecasting models often </a:t>
            </a:r>
            <a:r>
              <a:rPr lang="en-US" b="1" dirty="0"/>
              <a:t>fail due to sensor faults</a:t>
            </a:r>
            <a:r>
              <a:rPr lang="en-US" dirty="0"/>
              <a:t>, </a:t>
            </a:r>
            <a:r>
              <a:rPr lang="en-US" b="1" dirty="0"/>
              <a:t>data inconsistency</a:t>
            </a:r>
            <a:r>
              <a:rPr lang="en-US" dirty="0"/>
              <a:t>, and </a:t>
            </a:r>
            <a:r>
              <a:rPr lang="en-US" b="1" dirty="0"/>
              <a:t>lack of adaptability</a:t>
            </a:r>
            <a:r>
              <a:rPr lang="en-US" dirty="0"/>
              <a:t> across different climate zones.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models require </a:t>
            </a:r>
            <a:r>
              <a:rPr lang="en-US" b="1" dirty="0"/>
              <a:t>high computational power</a:t>
            </a:r>
            <a:r>
              <a:rPr lang="en-US" dirty="0"/>
              <a:t> and are not optimized for </a:t>
            </a:r>
            <a:r>
              <a:rPr lang="en-US" b="1" dirty="0"/>
              <a:t>real-time, fault-tolerant prediction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</a:t>
            </a:r>
            <a:r>
              <a:rPr lang="en-US" b="1" dirty="0"/>
              <a:t>no unified framework</a:t>
            </a:r>
            <a:r>
              <a:rPr lang="en-US" dirty="0"/>
              <a:t> that ensures accurate forecasting even when some sensors malfunction or data becomes missing.</a:t>
            </a:r>
          </a:p>
          <a:p>
            <a:endParaRPr lang="en-US" dirty="0"/>
          </a:p>
          <a:p>
            <a:r>
              <a:rPr lang="en-US" b="1" dirty="0"/>
              <a:t>Significance of the Problem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Unreliable predictions lead to </a:t>
            </a:r>
            <a:r>
              <a:rPr lang="en-US" b="1" dirty="0"/>
              <a:t>poor crop yield, energy loss, and inefficient resource usage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Developing a </a:t>
            </a:r>
            <a:r>
              <a:rPr lang="en-US" b="1" dirty="0"/>
              <a:t>fault-resilient and adaptive deep learning system</a:t>
            </a:r>
            <a:r>
              <a:rPr lang="en-US" dirty="0"/>
              <a:t> improves greenhouse management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Reliable microclimate forecasting supports </a:t>
            </a:r>
            <a:r>
              <a:rPr lang="en-US" b="1" dirty="0"/>
              <a:t>smart agriculture</a:t>
            </a:r>
            <a:r>
              <a:rPr lang="en-US" dirty="0"/>
              <a:t>, </a:t>
            </a:r>
            <a:r>
              <a:rPr lang="en-US" b="1" dirty="0"/>
              <a:t>sustainability</a:t>
            </a:r>
            <a:r>
              <a:rPr lang="en-US" dirty="0"/>
              <a:t>, and </a:t>
            </a:r>
            <a:r>
              <a:rPr lang="en-US" b="1" dirty="0"/>
              <a:t>climate-adaptive food production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solution can be deployed on </a:t>
            </a:r>
            <a:r>
              <a:rPr lang="en-US" b="1" dirty="0"/>
              <a:t>IoT devices</a:t>
            </a:r>
            <a:r>
              <a:rPr lang="en-US" dirty="0"/>
              <a:t>, enabling </a:t>
            </a:r>
            <a:r>
              <a:rPr lang="en-US" b="1" dirty="0"/>
              <a:t>real-time monitoring</a:t>
            </a:r>
            <a:r>
              <a:rPr lang="en-US" dirty="0"/>
              <a:t> for farmers and researchers.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F93344A1-8486-4D0B-81A3-5D48AFD45409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99137" y="1371600"/>
            <a:ext cx="10101072" cy="37363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develop</a:t>
            </a:r>
            <a:r>
              <a:rPr lang="en-IN" sz="2000" dirty="0"/>
              <a:t> a unified deep learning framework (</a:t>
            </a:r>
            <a:r>
              <a:rPr lang="en-IN" sz="2000" b="1" dirty="0" err="1"/>
              <a:t>AgriCastNet</a:t>
            </a:r>
            <a:r>
              <a:rPr lang="en-IN" sz="2000" dirty="0"/>
              <a:t>) for accurate greenhouse microclimate forecasting.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integrate</a:t>
            </a:r>
            <a:r>
              <a:rPr lang="en-IN" sz="2000" dirty="0"/>
              <a:t> a </a:t>
            </a:r>
            <a:r>
              <a:rPr lang="en-IN" sz="2000" b="1" dirty="0"/>
              <a:t>Climatic Influence Indicator (CII)</a:t>
            </a:r>
            <a:r>
              <a:rPr lang="en-IN" sz="2000" dirty="0"/>
              <a:t> layer to enhance fault tolerance and handle missing or faulty sensor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evaluate</a:t>
            </a:r>
            <a:r>
              <a:rPr lang="en-IN" sz="2000" dirty="0"/>
              <a:t> multiple deep learning models (</a:t>
            </a:r>
            <a:r>
              <a:rPr lang="en-IN" sz="2000" b="1" dirty="0"/>
              <a:t>CNN-</a:t>
            </a:r>
            <a:r>
              <a:rPr lang="en-IN" sz="2000" b="1" dirty="0" err="1"/>
              <a:t>BiLSTM</a:t>
            </a:r>
            <a:r>
              <a:rPr lang="en-IN" sz="2000" b="1" dirty="0"/>
              <a:t>, TCN, TFT, PLSTM, </a:t>
            </a:r>
            <a:r>
              <a:rPr lang="en-IN" sz="2000" b="1" dirty="0" err="1"/>
              <a:t>XGBoost</a:t>
            </a:r>
            <a:r>
              <a:rPr lang="en-IN" sz="2000" dirty="0"/>
              <a:t>) using real multivariate greenhouse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enable</a:t>
            </a:r>
            <a:r>
              <a:rPr lang="en-IN" sz="2000" dirty="0"/>
              <a:t> real-time, explainable, and IoT-ready deployment for sustainable smart agriculture and decision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39092C9-429A-4E89-8956-BCBF2F3E5147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id="{4A08CACC-7EA2-7F97-64A8-F0BCB3965FA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483468"/>
            <a:ext cx="5562599" cy="4267200"/>
          </a:xfrm>
          <a:prstGeom prst="rect">
            <a:avLst/>
          </a:prstGeom>
        </p:spPr>
      </p:pic>
      <p:pic>
        <p:nvPicPr>
          <p:cNvPr id="10" name="Image 3">
            <a:extLst>
              <a:ext uri="{FF2B5EF4-FFF2-40B4-BE49-F238E27FC236}">
                <a16:creationId xmlns:a16="http://schemas.microsoft.com/office/drawing/2014/main" id="{C5D4FA6C-47E3-B681-D342-921FC5979B4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29400" y="1577502"/>
            <a:ext cx="5334000" cy="4079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5AC6130D-2DFA-4D8D-B236-FB018E0C5666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5463" y="1143000"/>
            <a:ext cx="9064625" cy="518654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1. Data Collection &amp; EDA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Used </a:t>
            </a:r>
            <a:r>
              <a:rPr lang="en-IN" sz="1600" b="1" dirty="0"/>
              <a:t>multivariate greenhouse dataset</a:t>
            </a:r>
            <a:r>
              <a:rPr lang="en-IN" sz="1600" dirty="0"/>
              <a:t> (Spain &amp; Mexico).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Parameters: Temperature, Humidity, CO₂, Radiation, Dew Point.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Performed </a:t>
            </a:r>
            <a:r>
              <a:rPr lang="en-IN" sz="1600" b="1" dirty="0"/>
              <a:t>Exploratory Data Analysis (EDA)</a:t>
            </a:r>
            <a:r>
              <a:rPr lang="en-IN" sz="1600" dirty="0"/>
              <a:t> — correlation heatmaps, trend plots, and outlier detection.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2. Data Preprocessing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Handled missing values using </a:t>
            </a:r>
            <a:r>
              <a:rPr lang="en-IN" sz="1600" b="1" dirty="0"/>
              <a:t>temporal interpolation</a:t>
            </a:r>
            <a:r>
              <a:rPr lang="en-IN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Normalized all features to a common scale for stable training.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Applied </a:t>
            </a:r>
            <a:r>
              <a:rPr lang="en-IN" sz="1600" b="1" dirty="0"/>
              <a:t>regularization</a:t>
            </a:r>
            <a:r>
              <a:rPr lang="en-IN" sz="1600" dirty="0"/>
              <a:t> and </a:t>
            </a:r>
            <a:r>
              <a:rPr lang="en-IN" sz="1600" b="1" dirty="0"/>
              <a:t>dropout</a:t>
            </a:r>
            <a:r>
              <a:rPr lang="en-IN" sz="1600" dirty="0"/>
              <a:t> to prevent overfitting.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Model Development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Implemented five models: </a:t>
            </a:r>
            <a:r>
              <a:rPr lang="en-IN" sz="1600" b="1" dirty="0"/>
              <a:t>CNN-</a:t>
            </a:r>
            <a:r>
              <a:rPr lang="en-IN" sz="1600" b="1" dirty="0" err="1"/>
              <a:t>BiLSTM</a:t>
            </a:r>
            <a:r>
              <a:rPr lang="en-IN" sz="1600" b="1" dirty="0"/>
              <a:t>, TCN, TFT, PLSTM, </a:t>
            </a:r>
            <a:r>
              <a:rPr lang="en-IN" sz="1600" b="1" dirty="0" err="1"/>
              <a:t>XGBoost</a:t>
            </a:r>
            <a:r>
              <a:rPr lang="en-IN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Designed </a:t>
            </a:r>
            <a:r>
              <a:rPr lang="en-IN" sz="1600" b="1" dirty="0"/>
              <a:t>CII (Climatic Influence Indicator)</a:t>
            </a:r>
            <a:r>
              <a:rPr lang="en-IN" sz="1600" dirty="0"/>
              <a:t> layer to capture sensor importance.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Used </a:t>
            </a:r>
            <a:r>
              <a:rPr lang="en-IN" sz="1600" b="1" dirty="0"/>
              <a:t>Adam optimizer</a:t>
            </a:r>
            <a:r>
              <a:rPr lang="en-IN" sz="1600" dirty="0"/>
              <a:t>, </a:t>
            </a:r>
            <a:r>
              <a:rPr lang="en-IN" sz="1600" b="1" dirty="0"/>
              <a:t>binary cross-entropy loss</a:t>
            </a:r>
            <a:r>
              <a:rPr lang="en-IN" sz="1600" dirty="0"/>
              <a:t>, and </a:t>
            </a:r>
            <a:r>
              <a:rPr lang="en-IN" sz="1600" b="1" dirty="0"/>
              <a:t>Bayesian optimization</a:t>
            </a:r>
            <a:r>
              <a:rPr lang="en-IN" sz="1600" dirty="0"/>
              <a:t> for hyperparameters.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6360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FC8AB636-1A8B-4755-BDF6-A76F7D7B235F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D1CAB79-2A7B-96B3-F99B-A6744781970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0873" y="857631"/>
            <a:ext cx="11277600" cy="593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Data: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imputation methods such as statistical correlation and temporal smoothing to fill in gaps caused by sensor failures, ensuring continuous and reliable data. </a:t>
            </a: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en-US" sz="1500" dirty="0"/>
              <a:t>andas library — used </a:t>
            </a:r>
            <a:r>
              <a:rPr lang="en-US" sz="1500" b="1" dirty="0"/>
              <a:t>correlation-based imputation </a:t>
            </a:r>
            <a:r>
              <a:rPr lang="en-US" sz="1500" dirty="0"/>
              <a:t>(</a:t>
            </a:r>
            <a:r>
              <a:rPr lang="en-US" sz="1500" dirty="0" err="1"/>
              <a:t>df.fillna</a:t>
            </a:r>
            <a:r>
              <a:rPr lang="en-US" sz="1500" dirty="0"/>
              <a:t>(</a:t>
            </a:r>
            <a:r>
              <a:rPr lang="en-US" sz="1500" dirty="0" err="1"/>
              <a:t>df.mean</a:t>
            </a:r>
            <a:r>
              <a:rPr lang="en-US" sz="1500" dirty="0"/>
              <a:t>()), interpolate(method='time')) and </a:t>
            </a:r>
            <a:r>
              <a:rPr lang="en-US" sz="1500" b="1" dirty="0"/>
              <a:t>rolling mean smoothing</a:t>
            </a:r>
            <a:r>
              <a:rPr lang="en-US" sz="1500" dirty="0"/>
              <a:t> (</a:t>
            </a:r>
            <a:r>
              <a:rPr lang="en-US" sz="1500" dirty="0" err="1"/>
              <a:t>df.rolling</a:t>
            </a:r>
            <a:r>
              <a:rPr lang="en-US" sz="1500" dirty="0"/>
              <a:t>(window=3).mean()).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Dew Point Estimation: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Calculating dew point values using empirical formulas based on available humidity and temperature data when direct measurements were missing. </a:t>
            </a:r>
            <a:r>
              <a:rPr lang="en-US" sz="1500" dirty="0"/>
              <a:t>Used </a:t>
            </a:r>
            <a:r>
              <a:rPr lang="en-US" sz="1500" b="1" dirty="0"/>
              <a:t>Magnus formula</a:t>
            </a:r>
            <a:r>
              <a:rPr lang="en-US" sz="1500" dirty="0"/>
              <a:t> implemented with </a:t>
            </a:r>
            <a:r>
              <a:rPr lang="en-US" sz="1500" dirty="0" err="1"/>
              <a:t>numpy</a:t>
            </a:r>
            <a:r>
              <a:rPr lang="en-US" sz="1500" dirty="0"/>
              <a:t> (np.log(), arithmetic operations) to compute dew point from temperature and humidity.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Splitting: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Dividing the dataset into training, validation, and testing subsets to objectively evaluate the model’s performance and avoid overfitting. </a:t>
            </a:r>
            <a:r>
              <a:rPr lang="en-US" sz="1500" b="1" dirty="0"/>
              <a:t>Chronological split</a:t>
            </a:r>
            <a:r>
              <a:rPr lang="en-US" sz="1500" dirty="0"/>
              <a:t> using </a:t>
            </a:r>
            <a:r>
              <a:rPr lang="en-US" sz="1500" dirty="0" err="1"/>
              <a:t>sklearn.model_selection</a:t>
            </a:r>
            <a:r>
              <a:rPr lang="en-US" sz="1500" dirty="0"/>
              <a:t> → </a:t>
            </a:r>
            <a:r>
              <a:rPr lang="en-US" sz="1500" dirty="0" err="1"/>
              <a:t>train_test_split</a:t>
            </a:r>
            <a:r>
              <a:rPr lang="en-US" sz="1500" dirty="0"/>
              <a:t>() (with shuffle=False) for 70–15–15 partition.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Scaling all features to a common range, which accelerates training and stabilizes neural network learning. </a:t>
            </a:r>
            <a:r>
              <a:rPr lang="en-US" sz="1500" dirty="0"/>
              <a:t>→ </a:t>
            </a:r>
            <a:r>
              <a:rPr lang="en-US" sz="1500" dirty="0" err="1"/>
              <a:t>sklearn</a:t>
            </a:r>
            <a:r>
              <a:rPr lang="en-US" sz="1500" dirty="0"/>
              <a:t>. </a:t>
            </a:r>
            <a:r>
              <a:rPr lang="en-US" sz="1500" dirty="0" err="1"/>
              <a:t>preprocessing.MinMaxScaler</a:t>
            </a:r>
            <a:r>
              <a:rPr lang="en-US" sz="1500" dirty="0"/>
              <a:t>() for scaling all features to [0, 1].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Incorporating dropout layers within models to reduce overfitting by randomly deactivating neurons during training. </a:t>
            </a:r>
            <a:r>
              <a:rPr lang="en-US" sz="1500" dirty="0"/>
              <a:t>Implemented </a:t>
            </a:r>
            <a:r>
              <a:rPr lang="en-US" sz="1500" b="1" dirty="0"/>
              <a:t>Dropout</a:t>
            </a:r>
            <a:r>
              <a:rPr lang="en-US" sz="1500" dirty="0"/>
              <a:t> using </a:t>
            </a:r>
            <a:r>
              <a:rPr lang="en-US" sz="1500" dirty="0" err="1"/>
              <a:t>tensorflow.keras.layers.Dropout</a:t>
            </a:r>
            <a:r>
              <a:rPr lang="en-US" sz="1500" dirty="0"/>
              <a:t>(rate=0.2) within the CNN + </a:t>
            </a:r>
            <a:r>
              <a:rPr lang="en-US" sz="1500" dirty="0" err="1"/>
              <a:t>BiLSTM</a:t>
            </a:r>
            <a:r>
              <a:rPr lang="en-US" sz="1500" dirty="0"/>
              <a:t> model.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Training: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mini-batch gradient descent with batch sizes typically between 16 and 64, to improve training efficiency and stability. </a:t>
            </a:r>
            <a:r>
              <a:rPr lang="en-IN" sz="1500" dirty="0"/>
              <a:t>Used </a:t>
            </a:r>
            <a:r>
              <a:rPr lang="en-IN" sz="1500" b="1" dirty="0"/>
              <a:t>mini-batch gradient descent</a:t>
            </a:r>
            <a:r>
              <a:rPr lang="en-IN" sz="1500" dirty="0"/>
              <a:t> with Adam optimizer in model. compile(optimizer='</a:t>
            </a:r>
            <a:r>
              <a:rPr lang="en-IN" sz="1500" dirty="0" err="1"/>
              <a:t>adam</a:t>
            </a:r>
            <a:r>
              <a:rPr lang="en-IN" sz="1500" dirty="0"/>
              <a:t>', loss='</a:t>
            </a:r>
            <a:r>
              <a:rPr lang="en-IN" sz="1500" dirty="0" err="1"/>
              <a:t>mse</a:t>
            </a:r>
            <a:r>
              <a:rPr lang="en-IN" sz="1500" dirty="0"/>
              <a:t>'), batch size = 32–64 during </a:t>
            </a:r>
            <a:r>
              <a:rPr lang="en-IN" sz="1500" dirty="0" err="1"/>
              <a:t>model.fit</a:t>
            </a:r>
            <a:r>
              <a:rPr lang="en-IN" sz="1500" dirty="0"/>
              <a:t>().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169F-667E-99E2-4F2D-6DD30242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37D71A-BFFD-E142-FA50-1BCA49CF6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7F7FA4-FF3A-CA7A-FB42-88DC5CE15B4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FC8AB636-1A8B-4755-BDF6-A76F7D7B235F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54CFB7E-4518-F07C-C56C-31E23C634B53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75C1C6B-7E64-0DD8-D26A-2D3F7A1C026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BFF501-A75C-A9D8-D2DD-64D07CEAD28F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DBFEA1B-07B6-E890-D542-C2F208AEC9C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B85793-75AF-0C16-B4DE-4271EE1B0B20}"/>
              </a:ext>
            </a:extLst>
          </p:cNvPr>
          <p:cNvSpPr txBox="1"/>
          <p:nvPr/>
        </p:nvSpPr>
        <p:spPr>
          <a:xfrm>
            <a:off x="880704" y="1451513"/>
            <a:ext cx="4970797" cy="42165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IN" b="1" dirty="0"/>
              <a:t>Software Specs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Language: Python 3.10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Frameworks: TensorFlow, </a:t>
            </a:r>
            <a:r>
              <a:rPr lang="en-IN" dirty="0" err="1"/>
              <a:t>Keras</a:t>
            </a:r>
            <a:r>
              <a:rPr lang="en-IN" dirty="0"/>
              <a:t>, 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Tools: Google Colab,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Libraries: NumPy, Pandas, Matplotlib</a:t>
            </a:r>
          </a:p>
          <a:p>
            <a:endParaRPr lang="en-IN" dirty="0"/>
          </a:p>
          <a:p>
            <a:r>
              <a:rPr lang="en-IN" b="1" dirty="0"/>
              <a:t>Implementation Summary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collected → Cleaned → Normalized → Trained on 5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Models: CNN-</a:t>
            </a:r>
            <a:r>
              <a:rPr lang="en-IN" dirty="0" err="1"/>
              <a:t>BiLSTM</a:t>
            </a:r>
            <a:r>
              <a:rPr lang="en-IN" dirty="0"/>
              <a:t>, TCN, TFT, PLSTM, </a:t>
            </a:r>
            <a:r>
              <a:rPr lang="en-IN" dirty="0" err="1"/>
              <a:t>XGBoost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Evaluated using 5-fold cross-validation &amp; metrics (MAE, RMSE, R²)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CNN-</a:t>
            </a:r>
            <a:r>
              <a:rPr lang="en-IN" dirty="0" err="1"/>
              <a:t>BiLSTM</a:t>
            </a:r>
            <a:r>
              <a:rPr lang="en-IN" dirty="0"/>
              <a:t> + CII layer gave best accuracy (99.67%)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75557-859D-774C-630F-E2B23FFF67AF}"/>
              </a:ext>
            </a:extLst>
          </p:cNvPr>
          <p:cNvSpPr txBox="1"/>
          <p:nvPr/>
        </p:nvSpPr>
        <p:spPr>
          <a:xfrm>
            <a:off x="6579488" y="1483468"/>
            <a:ext cx="46035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Hardware Specs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Processor: Intel i5/i7 or GPU (Tesla T4 – Colab)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RAM: 8–16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Storage: 256 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b="1" dirty="0"/>
              <a:t>Challenges &amp; Solutions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Missing data → Fixed using interpolation &amp; CII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Overfitting → Dropout &amp; regularization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High training time → Used GPU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Cross-zone variation → Multi-zone dataset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87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669" y="165599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B8D5F871-54DC-493A-AE2D-C0D18799B278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9" name="Image 7">
            <a:extLst>
              <a:ext uri="{FF2B5EF4-FFF2-40B4-BE49-F238E27FC236}">
                <a16:creationId xmlns:a16="http://schemas.microsoft.com/office/drawing/2014/main" id="{7F20D291-D447-1F5B-2DA4-2662C41E68E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0172" y="1809829"/>
            <a:ext cx="4743450" cy="3752771"/>
          </a:xfrm>
          <a:prstGeom prst="rect">
            <a:avLst/>
          </a:prstGeom>
        </p:spPr>
      </p:pic>
      <p:pic>
        <p:nvPicPr>
          <p:cNvPr id="10" name="Image 14">
            <a:extLst>
              <a:ext uri="{FF2B5EF4-FFF2-40B4-BE49-F238E27FC236}">
                <a16:creationId xmlns:a16="http://schemas.microsoft.com/office/drawing/2014/main" id="{912CD26B-1415-5CF2-AAC1-988F355014D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5455" y="1362643"/>
            <a:ext cx="5351080" cy="2209800"/>
          </a:xfrm>
          <a:prstGeom prst="rect">
            <a:avLst/>
          </a:prstGeom>
        </p:spPr>
      </p:pic>
      <p:pic>
        <p:nvPicPr>
          <p:cNvPr id="11" name="Image 18">
            <a:extLst>
              <a:ext uri="{FF2B5EF4-FFF2-40B4-BE49-F238E27FC236}">
                <a16:creationId xmlns:a16="http://schemas.microsoft.com/office/drawing/2014/main" id="{F4E4AD32-E6CC-3A4A-2C41-1CCEA5AC93B5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22853" y="3810000"/>
            <a:ext cx="5582925" cy="23838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CA7A-7373-F18C-26D9-1E91D978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08A379-629C-B85D-D82B-2D07F5196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669" y="165599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16FE3FC-9BAE-C403-E0CC-4D6E86B532C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B8D5F871-54DC-493A-AE2D-C0D18799B278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5DBB6E-D287-F629-7805-E98998755B68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7626406-83C2-49D0-988C-5C4EC8BA8F6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9E7D530-0173-E609-A1C0-FB3AA8A0F43F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CF37A6D-0848-03BB-C439-0BB5711C120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464BD-5291-A582-77AC-98116343A42A}"/>
              </a:ext>
            </a:extLst>
          </p:cNvPr>
          <p:cNvGrpSpPr/>
          <p:nvPr/>
        </p:nvGrpSpPr>
        <p:grpSpPr>
          <a:xfrm>
            <a:off x="533400" y="1524000"/>
            <a:ext cx="3048000" cy="4225608"/>
            <a:chOff x="0" y="0"/>
            <a:chExt cx="2962148" cy="296513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A4823E-F61F-821B-268D-315321CED29C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538561" cy="254154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82F0610-265D-78A9-9626-63A704B892C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532591" y="1"/>
              <a:ext cx="429557" cy="296513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4CEF545-197D-82EA-B151-E87AF039A34E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2535563"/>
              <a:ext cx="2538561" cy="429557"/>
            </a:xfrm>
            <a:prstGeom prst="rect">
              <a:avLst/>
            </a:prstGeom>
          </p:spPr>
        </p:pic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9C7AA22-A531-194F-F656-9E7E62274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69672"/>
              </p:ext>
            </p:extLst>
          </p:nvPr>
        </p:nvGraphicFramePr>
        <p:xfrm>
          <a:off x="3886201" y="2367280"/>
          <a:ext cx="8077200" cy="2280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713">
                  <a:extLst>
                    <a:ext uri="{9D8B030D-6E8A-4147-A177-3AD203B41FA5}">
                      <a16:colId xmlns:a16="http://schemas.microsoft.com/office/drawing/2014/main" val="1367527542"/>
                    </a:ext>
                  </a:extLst>
                </a:gridCol>
                <a:gridCol w="2574608">
                  <a:extLst>
                    <a:ext uri="{9D8B030D-6E8A-4147-A177-3AD203B41FA5}">
                      <a16:colId xmlns:a16="http://schemas.microsoft.com/office/drawing/2014/main" val="1984360781"/>
                    </a:ext>
                  </a:extLst>
                </a:gridCol>
                <a:gridCol w="3230879">
                  <a:extLst>
                    <a:ext uri="{9D8B030D-6E8A-4147-A177-3AD203B41FA5}">
                      <a16:colId xmlns:a16="http://schemas.microsoft.com/office/drawing/2014/main" val="1240503153"/>
                    </a:ext>
                  </a:extLst>
                </a:gridCol>
              </a:tblGrid>
              <a:tr h="398342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Original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Our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392154"/>
                  </a:ext>
                </a:extLst>
              </a:tr>
              <a:tr h="39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 (R²)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</a:t>
                      </a:r>
                      <a:r>
                        <a:rPr lang="en-IN" b="1" dirty="0"/>
                        <a:t>99.99%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</a:t>
                      </a:r>
                      <a:r>
                        <a:rPr lang="en-IN" b="1" dirty="0"/>
                        <a:t>99.67%</a:t>
                      </a:r>
                      <a:r>
                        <a:rPr lang="en-IN" dirty="0"/>
                        <a:t> (realistic &amp; stable)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188674"/>
                  </a:ext>
                </a:extLst>
              </a:tr>
              <a:tr h="39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Validation Method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Train–Test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5-Fold Cross Validation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150956"/>
                  </a:ext>
                </a:extLst>
              </a:tr>
              <a:tr h="39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Overfitting Control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clearly mentioned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Dropout (0.2)</a:t>
                      </a:r>
                      <a:r>
                        <a:rPr lang="en-IN" dirty="0"/>
                        <a:t> + </a:t>
                      </a:r>
                      <a:r>
                        <a:rPr lang="en-IN" b="1" dirty="0"/>
                        <a:t>Early Stopping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578876"/>
                  </a:ext>
                </a:extLst>
              </a:tr>
              <a:tr h="687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Missing Data Handling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or 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Correlation + Rolling Mean Imputation.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169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785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5FA3DE5-8B13-4523-A468-DDEDB83A9129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37240" y="1282351"/>
            <a:ext cx="4416425" cy="536300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1800" b="1" dirty="0"/>
              <a:t>Key Findings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CNN–</a:t>
            </a:r>
            <a:r>
              <a:rPr lang="en-IN" sz="1800" dirty="0" err="1"/>
              <a:t>BiLSTM</a:t>
            </a:r>
            <a:r>
              <a:rPr lang="en-IN" sz="1800" dirty="0"/>
              <a:t> achieved the </a:t>
            </a:r>
            <a:r>
              <a:rPr lang="en-IN" sz="1800" b="1" dirty="0"/>
              <a:t>highest accuracy (99.67%)</a:t>
            </a:r>
            <a:r>
              <a:rPr lang="en-IN" sz="1800" dirty="0"/>
              <a:t>, followed by </a:t>
            </a:r>
            <a:r>
              <a:rPr lang="en-IN" sz="1800" dirty="0" err="1"/>
              <a:t>XGBoost</a:t>
            </a:r>
            <a:r>
              <a:rPr lang="en-IN" sz="1800" dirty="0"/>
              <a:t> (99.59%).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Proposed </a:t>
            </a:r>
            <a:r>
              <a:rPr lang="en-IN" sz="1800" b="1" dirty="0"/>
              <a:t>CII layer</a:t>
            </a:r>
            <a:r>
              <a:rPr lang="en-IN" sz="1800" dirty="0"/>
              <a:t> improved fault tolerance and sensor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Framework showed </a:t>
            </a:r>
            <a:r>
              <a:rPr lang="en-IN" sz="1800" b="1" dirty="0"/>
              <a:t>strong adaptability</a:t>
            </a:r>
            <a:r>
              <a:rPr lang="en-IN" sz="1800" dirty="0"/>
              <a:t> across multiple </a:t>
            </a:r>
            <a:r>
              <a:rPr lang="en-IN" sz="1800" dirty="0" err="1"/>
              <a:t>agro</a:t>
            </a:r>
            <a:r>
              <a:rPr lang="en-IN" sz="1800" dirty="0"/>
              <a:t>-climatic zones.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Deep hybrid models outperformed traditional single-model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b="1" dirty="0"/>
              <a:t>Significance of Results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Enables </a:t>
            </a:r>
            <a:r>
              <a:rPr lang="en-IN" sz="1800" b="1" dirty="0"/>
              <a:t>real-time and reliable climate forecasting</a:t>
            </a:r>
            <a:r>
              <a:rPr lang="en-IN" sz="1800" dirty="0"/>
              <a:t> for smart greenhouses.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Supports </a:t>
            </a:r>
            <a:r>
              <a:rPr lang="en-IN" sz="1800" b="1" dirty="0"/>
              <a:t>data-driven decision making</a:t>
            </a:r>
            <a:r>
              <a:rPr lang="en-IN" sz="1800" dirty="0"/>
              <a:t> and sustainable crop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Demonstrates potential for </a:t>
            </a:r>
            <a:r>
              <a:rPr lang="en-IN" sz="1800" b="1" dirty="0"/>
              <a:t>AI-powered automation</a:t>
            </a:r>
            <a:r>
              <a:rPr lang="en-IN" sz="1800" dirty="0"/>
              <a:t> in agriculture.</a:t>
            </a:r>
          </a:p>
          <a:p>
            <a:r>
              <a:rPr lang="en-IN" sz="1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44A11-58A4-917B-5BF0-1ACCE079D703}"/>
              </a:ext>
            </a:extLst>
          </p:cNvPr>
          <p:cNvSpPr txBox="1"/>
          <p:nvPr/>
        </p:nvSpPr>
        <p:spPr>
          <a:xfrm>
            <a:off x="6149673" y="1483468"/>
            <a:ext cx="4724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Future Developments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Integrate </a:t>
            </a:r>
            <a:r>
              <a:rPr lang="en-IN" sz="1800" b="1" dirty="0"/>
              <a:t>multiclass risk prediction</a:t>
            </a:r>
            <a:r>
              <a:rPr lang="en-IN" sz="1800" dirty="0"/>
              <a:t> (normal, warning, alert).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Develop </a:t>
            </a:r>
            <a:r>
              <a:rPr lang="en-IN" sz="1800" b="1" dirty="0"/>
              <a:t>model stacking and voting ensembles</a:t>
            </a:r>
            <a:r>
              <a:rPr lang="en-IN" sz="1800" dirty="0"/>
              <a:t> for higher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Add </a:t>
            </a:r>
            <a:r>
              <a:rPr lang="en-IN" sz="1800" b="1" dirty="0"/>
              <a:t>Explainable AI (XAI)</a:t>
            </a:r>
            <a:r>
              <a:rPr lang="en-IN" sz="1800" dirty="0"/>
              <a:t> using SHAP/LIME for transparency.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Deploy lightweight versions using </a:t>
            </a:r>
            <a:r>
              <a:rPr lang="en-IN" sz="1800" b="1" dirty="0"/>
              <a:t>TensorFlow Lite / IoT devices</a:t>
            </a:r>
            <a:r>
              <a:rPr lang="en-IN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b="1" dirty="0"/>
              <a:t>Limitations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Dependent on </a:t>
            </a:r>
            <a:r>
              <a:rPr lang="en-IN" sz="1800" b="1" dirty="0"/>
              <a:t>sensor data quality</a:t>
            </a:r>
            <a:r>
              <a:rPr lang="en-IN" sz="1800" dirty="0"/>
              <a:t> and internet connectivity.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Requires </a:t>
            </a:r>
            <a:r>
              <a:rPr lang="en-IN" sz="1800" b="1" dirty="0"/>
              <a:t>large-scale real-time testing</a:t>
            </a:r>
            <a:r>
              <a:rPr lang="en-IN" sz="1800" dirty="0"/>
              <a:t> before full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Computational requirements may limit use on </a:t>
            </a:r>
            <a:r>
              <a:rPr lang="en-IN" sz="1800" b="1" dirty="0"/>
              <a:t>low-end devices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363" y="76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E145B421-23D8-49A8-AFFF-B0EE0AF7F7B4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84862" y="1000422"/>
            <a:ext cx="4715431" cy="552811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W. Shao, C. Wu, T. Yue, N. Zhao, and Y. Hu, “Prediction of Gross Primary Productivity Change in Central Asia Under Climate Change Using Deep Learning,” </a:t>
            </a:r>
            <a:r>
              <a:rPr lang="en-US" sz="1000" i="1" dirty="0"/>
              <a:t>IEEE Journal of Selected Topics in Applied Earth Observations and Remote Sensing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2"/>
              </a:rPr>
              <a:t>https://ieeexplore.ieee.org/document/10946667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N. Tang, M. Farhan, P. Mohammad, M. Abdullah-Al-Wadud, S. Hussain, U. Hamza, and N. Y. Rebouh, “Enhancing Urban Heat Island Analysis Through Multi-Sensor Data Fusion and GRU-Based Deep Learning Approaches for Climate Modeling,” </a:t>
            </a:r>
            <a:r>
              <a:rPr lang="en-US" sz="1000" i="1" dirty="0"/>
              <a:t>IEEE Journal of Selected Topics in Applied Earth Observations and Remote Sensing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3"/>
              </a:rPr>
              <a:t>https://ieeexplore.ieee.org/document/10938603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S. A. </a:t>
            </a:r>
            <a:r>
              <a:rPr lang="en-US" sz="1000" dirty="0" err="1"/>
              <a:t>Oussous</a:t>
            </a:r>
            <a:r>
              <a:rPr lang="en-US" sz="1000" dirty="0"/>
              <a:t>, D. M. Lail, R. El Bouayadi, and A. Amine, “Deep Learning Innovations for Greenhouse Climate Prediction: Insights From a Spanish Case Study,” </a:t>
            </a:r>
            <a:r>
              <a:rPr lang="en-US" sz="1000" i="1" dirty="0"/>
              <a:t>IEEE Access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4"/>
              </a:rPr>
              <a:t>https://ieeexplore.ieee.org/document/10960464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T. A. </a:t>
            </a:r>
            <a:r>
              <a:rPr lang="en-US" sz="1000" dirty="0" err="1"/>
              <a:t>Gahwera</a:t>
            </a:r>
            <a:r>
              <a:rPr lang="en-US" sz="1000" dirty="0"/>
              <a:t>, O. S. </a:t>
            </a:r>
            <a:r>
              <a:rPr lang="en-US" sz="1000" dirty="0" err="1"/>
              <a:t>Eyobu</a:t>
            </a:r>
            <a:r>
              <a:rPr lang="en-US" sz="1000" dirty="0"/>
              <a:t>, M. Isaac, S. </a:t>
            </a:r>
            <a:r>
              <a:rPr lang="en-US" sz="1000" dirty="0" err="1"/>
              <a:t>Kakuba</a:t>
            </a:r>
            <a:r>
              <a:rPr lang="en-US" sz="1000" dirty="0"/>
              <a:t>, and D. S. Han, “Transfer Learning-Based Ensemble Approach for Rainfall Class Amount Prediction,” </a:t>
            </a:r>
            <a:r>
              <a:rPr lang="en-US" sz="1000" i="1" dirty="0"/>
              <a:t>IEEE Access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5"/>
              </a:rPr>
              <a:t>https:</a:t>
            </a:r>
            <a:endParaRPr lang="en-IN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hlinkClick r:id="rId5"/>
              </a:rPr>
              <a:t>//ieeexplore.ieee.org/document/10929049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S. Zhao, Z. Xiong, and X. X. Zhu, “Rain-Scaler: A Physics-Inspired Network for Precipitation Correction and Downscaling,” </a:t>
            </a:r>
            <a:r>
              <a:rPr lang="en-US" sz="1000" i="1" dirty="0"/>
              <a:t>IEEE Trans- actions on Geoscience and Remote Sensing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6"/>
              </a:rPr>
              <a:t>https://ieeexplore.ieee.org/document/10990277</a:t>
            </a:r>
            <a:endParaRPr lang="en-IN" sz="1000" dirty="0">
              <a:effectLst/>
            </a:endParaRPr>
          </a:p>
          <a:p>
            <a:pPr lvl="0">
              <a:lnSpc>
                <a:spcPct val="150000"/>
              </a:lnSpc>
            </a:pP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767FE-9BCD-7A2E-B315-3C7004428B76}"/>
              </a:ext>
            </a:extLst>
          </p:cNvPr>
          <p:cNvSpPr txBox="1"/>
          <p:nvPr/>
        </p:nvSpPr>
        <p:spPr>
          <a:xfrm>
            <a:off x="5633006" y="953814"/>
            <a:ext cx="6482794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C. </a:t>
            </a:r>
            <a:r>
              <a:rPr lang="en-US" sz="1000" dirty="0" err="1"/>
              <a:t>Schweden</a:t>
            </a:r>
            <a:r>
              <a:rPr lang="en-US" sz="1000" dirty="0"/>
              <a:t>, K. Hechinger, G. </a:t>
            </a:r>
            <a:r>
              <a:rPr lang="en-US" sz="1000" dirty="0" err="1"/>
              <a:t>Kauermann</a:t>
            </a:r>
            <a:r>
              <a:rPr lang="en-US" sz="1000" dirty="0"/>
              <a:t>, and X. X. Zhu, “Can Uncertainty Quantification Benefit From Label Embeddings? A Case Study on Local Climate Zone Classification,” </a:t>
            </a:r>
            <a:r>
              <a:rPr lang="en-US" sz="1000" i="1" dirty="0"/>
              <a:t>IEEE Transactions on Geoscience and Remote Sensing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7"/>
              </a:rPr>
              <a:t>https://</a:t>
            </a:r>
            <a:r>
              <a:rPr lang="en-US" sz="1000" dirty="0"/>
              <a:t> </a:t>
            </a:r>
            <a:r>
              <a:rPr lang="en-US" sz="1000" dirty="0">
                <a:hlinkClick r:id="rId7"/>
              </a:rPr>
              <a:t>ieeexplore.ieee.org/document/10988683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A. Flah, H. </a:t>
            </a:r>
            <a:r>
              <a:rPr lang="en-US" sz="1000" dirty="0" err="1"/>
              <a:t>Kraiem</a:t>
            </a:r>
            <a:r>
              <a:rPr lang="en-US" sz="1000" dirty="0"/>
              <a:t>, M. Jayachandran, C. Z. El-</a:t>
            </a:r>
            <a:r>
              <a:rPr lang="en-US" sz="1000" dirty="0" err="1"/>
              <a:t>Bayeh</a:t>
            </a:r>
            <a:r>
              <a:rPr lang="en-US" sz="1000" dirty="0"/>
              <a:t>, B. S. Goud, V. Blazek, and M. M. Irfan, “Advancing Sustainable Energy Transition Through Green Hydrogen Valleys,” </a:t>
            </a:r>
            <a:r>
              <a:rPr lang="en-US" sz="1000" i="1" dirty="0"/>
              <a:t>IEEE Access</a:t>
            </a:r>
            <a:r>
              <a:rPr lang="en-US" sz="1000" dirty="0"/>
              <a:t>, 2025. 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F. Anderson, K. Pelka, J. </a:t>
            </a:r>
            <a:r>
              <a:rPr lang="en-US" sz="1000" dirty="0" err="1"/>
              <a:t>Walgern</a:t>
            </a:r>
            <a:r>
              <a:rPr lang="en-US" sz="1000" dirty="0"/>
              <a:t>, T. Lichtenstein, and K. Fis- </a:t>
            </a:r>
            <a:r>
              <a:rPr lang="en-US" sz="1000" dirty="0" err="1"/>
              <a:t>cher</a:t>
            </a:r>
            <a:r>
              <a:rPr lang="en-US" sz="1000" dirty="0"/>
              <a:t>, “Trends and Influencing Factors in Power-Converter Reliability of Wind Turbines: A Deepened Analysis,” </a:t>
            </a:r>
            <a:r>
              <a:rPr lang="en-US" sz="1000" i="1" dirty="0"/>
              <a:t>IEEE Transactions on Power Electronics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8"/>
              </a:rPr>
              <a:t>https://ieeexplore.ieee.</a:t>
            </a:r>
            <a:r>
              <a:rPr lang="en-US" sz="1000" dirty="0"/>
              <a:t> </a:t>
            </a:r>
            <a:r>
              <a:rPr lang="en-US" sz="1000" dirty="0">
                <a:hlinkClick r:id="rId8"/>
              </a:rPr>
              <a:t>org/document/10848244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A. R. V. Babu, N. B. Kumar, R. P. </a:t>
            </a:r>
            <a:r>
              <a:rPr lang="en-US" sz="1000" dirty="0" err="1"/>
              <a:t>Narasipuram</a:t>
            </a:r>
            <a:r>
              <a:rPr lang="en-US" sz="1000" dirty="0"/>
              <a:t>, S. </a:t>
            </a:r>
            <a:r>
              <a:rPr lang="en-US" sz="1000" dirty="0" err="1"/>
              <a:t>Periyannan</a:t>
            </a:r>
            <a:r>
              <a:rPr lang="en-US" sz="1000" dirty="0"/>
              <a:t>, A. Hosseinpour, and A. Flah, “Solar Energy Forecasting Using Machine Learning Techniques for Enhanced Grid Stability,” </a:t>
            </a:r>
            <a:r>
              <a:rPr lang="en-US" sz="1000" i="1" dirty="0"/>
              <a:t>IEEE Access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9"/>
              </a:rPr>
              <a:t>https://ieeexplore.ieee.org/document/11015947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M. Lavery, R. </a:t>
            </a:r>
            <a:r>
              <a:rPr lang="en-US" sz="1000" dirty="0" err="1"/>
              <a:t>Scnninger</a:t>
            </a:r>
            <a:r>
              <a:rPr lang="en-US" sz="1000" dirty="0"/>
              <a:t>, and M. </a:t>
            </a:r>
            <a:r>
              <a:rPr lang="en-US" sz="1000" dirty="0" err="1"/>
              <a:t>Ma¨rz</a:t>
            </a:r>
            <a:r>
              <a:rPr lang="en-US" sz="1000" dirty="0"/>
              <a:t>, “Use-Case-Dependent Model- </a:t>
            </a:r>
            <a:r>
              <a:rPr lang="en-US" sz="1000" dirty="0" err="1"/>
              <a:t>ing</a:t>
            </a:r>
            <a:r>
              <a:rPr lang="en-US" sz="1000" dirty="0"/>
              <a:t> Approach for Analysis of Distributed DC Grids,” </a:t>
            </a:r>
            <a:r>
              <a:rPr lang="en-US" sz="1000" i="1" dirty="0"/>
              <a:t>IEEE Open Jour- </a:t>
            </a:r>
            <a:r>
              <a:rPr lang="en-US" sz="1000" i="1" dirty="0" err="1"/>
              <a:t>nal</a:t>
            </a:r>
            <a:r>
              <a:rPr lang="en-US" sz="1000" i="1" dirty="0"/>
              <a:t> of Power Electronics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10"/>
              </a:rPr>
              <a:t>https://ieeexplore.</a:t>
            </a:r>
            <a:r>
              <a:rPr lang="en-US" sz="1000" dirty="0"/>
              <a:t> </a:t>
            </a:r>
            <a:r>
              <a:rPr lang="en-US" sz="1000" dirty="0">
                <a:hlinkClick r:id="rId10"/>
              </a:rPr>
              <a:t>ieee.org/document/10839307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G. C. </a:t>
            </a:r>
            <a:r>
              <a:rPr lang="en-US" sz="1000" dirty="0" err="1"/>
              <a:t>Iban˜ez</a:t>
            </a:r>
            <a:r>
              <a:rPr lang="en-US" sz="1000" dirty="0"/>
              <a:t>, L. J. D. L. C. Llopis, A. C. </a:t>
            </a:r>
            <a:r>
              <a:rPr lang="en-US" sz="1000" dirty="0" err="1"/>
              <a:t>Diaconeasa</a:t>
            </a:r>
            <a:r>
              <a:rPr lang="en-US" sz="1000" dirty="0"/>
              <a:t>, A. B. </a:t>
            </a:r>
            <a:r>
              <a:rPr lang="en-US" sz="1000" dirty="0" err="1"/>
              <a:t>Guille´n</a:t>
            </a:r>
            <a:r>
              <a:rPr lang="en-US" sz="1000" dirty="0"/>
              <a:t>, and M. A. Igartua, “</a:t>
            </a:r>
            <a:r>
              <a:rPr lang="en-US" sz="1000" dirty="0" err="1"/>
              <a:t>MobilitApp</a:t>
            </a:r>
            <a:r>
              <a:rPr lang="en-US" sz="1000" dirty="0"/>
              <a:t>: A Deep Learning-Based Tool for Transport Mode Detection to Support Sustainable Urban Mobility,” </a:t>
            </a:r>
            <a:r>
              <a:rPr lang="en-US" sz="1000" i="1" dirty="0"/>
              <a:t>IEEE Access</a:t>
            </a:r>
            <a:r>
              <a:rPr lang="en-US" sz="1000" dirty="0"/>
              <a:t>, 2025. [Online]. Available: </a:t>
            </a:r>
            <a:r>
              <a:rPr lang="en-US" sz="1000" dirty="0">
                <a:hlinkClick r:id="rId11"/>
              </a:rPr>
              <a:t>https://ieeexplore.ieee.org/</a:t>
            </a:r>
            <a:r>
              <a:rPr lang="en-US" sz="1000" dirty="0"/>
              <a:t> </a:t>
            </a:r>
            <a:r>
              <a:rPr lang="en-US" sz="1000" dirty="0">
                <a:hlinkClick r:id="rId11"/>
              </a:rPr>
              <a:t>document/10965606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P. Lindgren, “Circular and Sustainable Multi-Business Model Inno- </a:t>
            </a:r>
            <a:r>
              <a:rPr lang="en-US" sz="1000" dirty="0" err="1"/>
              <a:t>vation</a:t>
            </a:r>
            <a:r>
              <a:rPr lang="en-US" sz="1000" dirty="0"/>
              <a:t> and Development: How Can Advanced Sensors, 5G, 6G, and Beyond Technologies Support the Process and Progress?,” </a:t>
            </a:r>
            <a:r>
              <a:rPr lang="en-US" sz="1000" i="1" dirty="0"/>
              <a:t>IEEE Ac- </a:t>
            </a:r>
            <a:r>
              <a:rPr lang="en-US" sz="1000" i="1" dirty="0" err="1"/>
              <a:t>cess</a:t>
            </a:r>
            <a:r>
              <a:rPr lang="en-US" sz="1000" dirty="0"/>
              <a:t>, 2024. [Online]. Available: </a:t>
            </a:r>
            <a:r>
              <a:rPr lang="en-US" sz="1000" dirty="0">
                <a:hlinkClick r:id="rId12"/>
              </a:rPr>
              <a:t>https://ieeexplore.ieee.org/document/</a:t>
            </a:r>
            <a:r>
              <a:rPr lang="en-US" sz="1000" dirty="0"/>
              <a:t> </a:t>
            </a:r>
            <a:r>
              <a:rPr lang="en-US" sz="1000" dirty="0">
                <a:hlinkClick r:id="rId12"/>
              </a:rPr>
              <a:t>10979508</a:t>
            </a:r>
            <a:endParaRPr lang="en-IN" sz="1000" dirty="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Y. Lu, B. Zhang, W. Perrie, and J. Sheng, “Arctic Sea Ice and Open Water Classification From Dual-Polarization Synthetic Aperture Radar Imagery and Deep Learning Models,” </a:t>
            </a:r>
            <a:r>
              <a:rPr lang="en-US" sz="1000" i="1" dirty="0"/>
              <a:t>IEEE Journal of Selected Topics in Applied Earth Observations and Remote Sensing</a:t>
            </a:r>
            <a:r>
              <a:rPr lang="en-US" sz="1000" dirty="0"/>
              <a:t>, 2025. [Online].</a:t>
            </a:r>
            <a:endParaRPr lang="en-IN" sz="1000" dirty="0"/>
          </a:p>
          <a:p>
            <a:endParaRPr lang="en-IN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7A4527C1-7DEB-4139-B4A7-8E52F4B74FF4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CD4EE-AE63-589B-51A8-C3EC105211A2}"/>
              </a:ext>
            </a:extLst>
          </p:cNvPr>
          <p:cNvSpPr txBox="1"/>
          <p:nvPr/>
        </p:nvSpPr>
        <p:spPr>
          <a:xfrm>
            <a:off x="2057400" y="2305615"/>
            <a:ext cx="8610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Thank you for your time and attention.</a:t>
            </a:r>
          </a:p>
          <a:p>
            <a:pPr algn="ctr"/>
            <a:endParaRPr lang="en-US" sz="28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sz="28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rPr>
              <a:t>I’d be happy to answer any questions or clarify any part of the project.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4326C6CE-2DB0-4368-A659-ACFE857C45D1}" type="datetime1">
              <a:rPr lang="en-US" spc="-20" smtClean="0"/>
              <a:t>2/9/2026</a:t>
            </a:fld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22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980277" y="2362200"/>
            <a:ext cx="7125334" cy="342401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800" dirty="0"/>
              <a:t>🌿 </a:t>
            </a:r>
            <a:r>
              <a:rPr lang="en-IN" sz="2800" b="1" dirty="0"/>
              <a:t>Thank You!</a:t>
            </a:r>
          </a:p>
          <a:p>
            <a:pPr marL="12700" algn="ctr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800" b="1" dirty="0"/>
              <a:t>Name:</a:t>
            </a:r>
            <a:r>
              <a:rPr lang="en-IN" sz="2800" dirty="0"/>
              <a:t> Syed Tasneem Banu (K1)</a:t>
            </a:r>
          </a:p>
          <a:p>
            <a:pPr marL="12700" algn="ctr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800" dirty="0"/>
              <a:t>B. Sailaja (E7)</a:t>
            </a:r>
          </a:p>
          <a:p>
            <a:pPr marL="12700" algn="ctr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800" dirty="0"/>
              <a:t>Sk. Nazeera (J2)</a:t>
            </a:r>
            <a:br>
              <a:rPr lang="en-IN" sz="2800" dirty="0"/>
            </a:br>
            <a:br>
              <a:rPr lang="en-IN" sz="2800" dirty="0"/>
            </a:br>
            <a:r>
              <a:rPr lang="en-IN" sz="2800" b="1" dirty="0"/>
              <a:t>Institution:</a:t>
            </a:r>
            <a:r>
              <a:rPr lang="en-IN" sz="2800" dirty="0"/>
              <a:t> </a:t>
            </a:r>
            <a:r>
              <a:rPr lang="en-IN" sz="2800" dirty="0" err="1"/>
              <a:t>Narasaraopeta</a:t>
            </a:r>
            <a:r>
              <a:rPr lang="en-IN" sz="2800" dirty="0"/>
              <a:t> Engineering College, CSE Department</a:t>
            </a: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2944</Words>
  <Application>Microsoft Office PowerPoint</Application>
  <PresentationFormat>Widescreen</PresentationFormat>
  <Paragraphs>326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Times New Roman</vt:lpstr>
      <vt:lpstr>Office Theme</vt:lpstr>
      <vt:lpstr>Department of Computer Science and Engineering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IMPLEMENTATION</vt:lpstr>
      <vt:lpstr>IMPLEMENTATION</vt:lpstr>
      <vt:lpstr>RESULTS &amp; ANALYSIS</vt:lpstr>
      <vt:lpstr>RESULTS &amp; ANALYSIS</vt:lpstr>
      <vt:lpstr>CONCLUSION and FUTURE SCOPE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Syed Tasneem Banu</dc:creator>
  <cp:lastModifiedBy>Syed Tasneem Banu</cp:lastModifiedBy>
  <cp:revision>24</cp:revision>
  <dcterms:created xsi:type="dcterms:W3CDTF">2025-11-09T18:13:32Z</dcterms:created>
  <dcterms:modified xsi:type="dcterms:W3CDTF">2026-02-09T08:51:55Z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2025-11-09T00:00:00Z</vt:filetime>
  </property>
</Properties>
</file>